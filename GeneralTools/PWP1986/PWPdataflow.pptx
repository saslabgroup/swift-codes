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A4376-7638-48F5-8999-417663C4B19D}" v="19" dt="2026-06-23T01:20:19.826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9258" autoAdjust="0"/>
  </p:normalViewPr>
  <p:slideViewPr>
    <p:cSldViewPr snapToGrid="0" snapToObjects="1">
      <p:cViewPr varScale="1">
        <p:scale>
          <a:sx n="78" d="100"/>
          <a:sy n="78" d="100"/>
        </p:scale>
        <p:origin x="300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James" userId="594c74c0-7fa0-4788-9c3f-3324b28f8bf6" providerId="ADAL" clId="{26AE032B-1676-4FAD-B4EC-FD2C727D1B94}"/>
    <pc:docChg chg="undo custSel addSld delSld modSld sldOrd">
      <pc:chgData name="Michael James" userId="594c74c0-7fa0-4788-9c3f-3324b28f8bf6" providerId="ADAL" clId="{26AE032B-1676-4FAD-B4EC-FD2C727D1B94}" dt="2026-06-23T20:18:53.834" v="3596" actId="20577"/>
      <pc:docMkLst>
        <pc:docMk/>
      </pc:docMkLst>
      <pc:sldChg chg="addSp modSp mod">
        <pc:chgData name="Michael James" userId="594c74c0-7fa0-4788-9c3f-3324b28f8bf6" providerId="ADAL" clId="{26AE032B-1676-4FAD-B4EC-FD2C727D1B94}" dt="2026-06-23T20:18:53.834" v="3596" actId="20577"/>
        <pc:sldMkLst>
          <pc:docMk/>
          <pc:sldMk cId="2168225973" sldId="256"/>
        </pc:sldMkLst>
        <pc:spChg chg="mod">
          <ac:chgData name="Michael James" userId="594c74c0-7fa0-4788-9c3f-3324b28f8bf6" providerId="ADAL" clId="{26AE032B-1676-4FAD-B4EC-FD2C727D1B94}" dt="2026-06-22T22:55:17.065" v="3476" actId="20577"/>
          <ac:spMkLst>
            <pc:docMk/>
            <pc:sldMk cId="2168225973" sldId="256"/>
            <ac:spMk id="3" creationId="{D206AC6B-6331-184B-C517-8A26522F95E2}"/>
          </ac:spMkLst>
        </pc:spChg>
        <pc:spChg chg="add mod">
          <ac:chgData name="Michael James" userId="594c74c0-7fa0-4788-9c3f-3324b28f8bf6" providerId="ADAL" clId="{26AE032B-1676-4FAD-B4EC-FD2C727D1B94}" dt="2026-06-23T19:47:56.786" v="3582" actId="20577"/>
          <ac:spMkLst>
            <pc:docMk/>
            <pc:sldMk cId="2168225973" sldId="256"/>
            <ac:spMk id="5" creationId="{6059D815-E4D9-A204-1EA4-8FBB032D92F4}"/>
          </ac:spMkLst>
        </pc:spChg>
        <pc:spChg chg="mod">
          <ac:chgData name="Michael James" userId="594c74c0-7fa0-4788-9c3f-3324b28f8bf6" providerId="ADAL" clId="{26AE032B-1676-4FAD-B4EC-FD2C727D1B94}" dt="2026-06-23T20:18:53.834" v="3596" actId="20577"/>
          <ac:spMkLst>
            <pc:docMk/>
            <pc:sldMk cId="2168225973" sldId="256"/>
            <ac:spMk id="44" creationId="{F5D4D092-B99F-D815-D31D-52480392F539}"/>
          </ac:spMkLst>
        </pc:spChg>
      </pc:sldChg>
      <pc:sldChg chg="modSp mod">
        <pc:chgData name="Michael James" userId="594c74c0-7fa0-4788-9c3f-3324b28f8bf6" providerId="ADAL" clId="{26AE032B-1676-4FAD-B4EC-FD2C727D1B94}" dt="2026-06-22T22:31:30.387" v="3244" actId="20577"/>
        <pc:sldMkLst>
          <pc:docMk/>
          <pc:sldMk cId="17976097" sldId="259"/>
        </pc:sldMkLst>
        <pc:graphicFrameChg chg="modGraphic">
          <ac:chgData name="Michael James" userId="594c74c0-7fa0-4788-9c3f-3324b28f8bf6" providerId="ADAL" clId="{26AE032B-1676-4FAD-B4EC-FD2C727D1B94}" dt="2026-06-22T22:31:30.387" v="3244" actId="20577"/>
          <ac:graphicFrameMkLst>
            <pc:docMk/>
            <pc:sldMk cId="17976097" sldId="259"/>
            <ac:graphicFrameMk id="23" creationId="{C8889235-40D8-41A4-E2C8-08E452A93968}"/>
          </ac:graphicFrameMkLst>
        </pc:graphicFrameChg>
      </pc:sldChg>
      <pc:sldChg chg="addSp delSp modSp add mod">
        <pc:chgData name="Michael James" userId="594c74c0-7fa0-4788-9c3f-3324b28f8bf6" providerId="ADAL" clId="{26AE032B-1676-4FAD-B4EC-FD2C727D1B94}" dt="2026-06-22T22:29:22.484" v="3239" actId="6549"/>
        <pc:sldMkLst>
          <pc:docMk/>
          <pc:sldMk cId="1730692112" sldId="260"/>
        </pc:sldMkLst>
        <pc:spChg chg="add mod">
          <ac:chgData name="Michael James" userId="594c74c0-7fa0-4788-9c3f-3324b28f8bf6" providerId="ADAL" clId="{26AE032B-1676-4FAD-B4EC-FD2C727D1B94}" dt="2026-06-22T22:29:22.484" v="3239" actId="6549"/>
          <ac:spMkLst>
            <pc:docMk/>
            <pc:sldMk cId="1730692112" sldId="26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B62CE-46E1-4E19-94DA-0B8BFDBED808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30660-4F0E-4B47-9053-0A4DF9AF7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8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BA44-5547-4A05-BE5D-86936EDD580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473A-DBD7-40D6-B238-34F51D9F2EE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7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A4F8-9902-48A9-B1DC-B39A3BE4767B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3512-6EC9-4FB6-AF72-C6F4942E7965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8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04BD-3276-464B-9669-F0B06875F318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8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D0DE9-4C31-4E09-98F9-19DDFF8B8E2A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4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B1C34-819B-4B34-BBB9-820CEF9757DE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6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7DD1-7230-421E-9383-D6D128676633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B893-10E8-48DE-93B8-87283093B1D2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5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9C28-2890-48FE-8F16-98633A4F4ACF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BF61-3053-4BA6-872C-3CF89B55428B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4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672EF-9514-42A2-B72D-F0C0BC168377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D5BC2-A15A-FD43-8F8A-37E790412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4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Michael-James-1/PWP1986.git" TargetMode="External"/><Relationship Id="rId2" Type="http://schemas.openxmlformats.org/officeDocument/2006/relationships/hyperlink" Target="https://github.com/SASlabgroup/SWIFT-codes/tree/a467fd08e1d11a6182c9b3a000679a8d8cba7159/GeneralTools/PWP1986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58FB81A-C57C-767E-5AB3-2F2C454033C4}"/>
              </a:ext>
            </a:extLst>
          </p:cNvPr>
          <p:cNvSpPr/>
          <p:nvPr/>
        </p:nvSpPr>
        <p:spPr>
          <a:xfrm>
            <a:off x="83917" y="4197553"/>
            <a:ext cx="6690167" cy="4066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630A14-712B-8ED2-4571-850A77571C62}"/>
              </a:ext>
            </a:extLst>
          </p:cNvPr>
          <p:cNvSpPr/>
          <p:nvPr/>
        </p:nvSpPr>
        <p:spPr>
          <a:xfrm>
            <a:off x="83917" y="639921"/>
            <a:ext cx="6690167" cy="25894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77217" y="116701"/>
            <a:ext cx="2318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u="sng" dirty="0"/>
              <a:t>PWP data 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B1605-6483-050A-97E1-A49DCAE22121}"/>
              </a:ext>
            </a:extLst>
          </p:cNvPr>
          <p:cNvSpPr txBox="1"/>
          <p:nvPr/>
        </p:nvSpPr>
        <p:spPr>
          <a:xfrm rot="16200000">
            <a:off x="55989" y="1654095"/>
            <a:ext cx="656153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Inputs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6AC6B-6331-184B-C517-8A26522F95E2}"/>
              </a:ext>
            </a:extLst>
          </p:cNvPr>
          <p:cNvSpPr txBox="1"/>
          <p:nvPr/>
        </p:nvSpPr>
        <p:spPr>
          <a:xfrm>
            <a:off x="766317" y="792321"/>
            <a:ext cx="2793765" cy="203132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MET Data (2 structures with arrays length(time) x 1)</a:t>
            </a:r>
            <a:endParaRPr lang="en-US" sz="1400" dirty="0"/>
          </a:p>
          <a:p>
            <a:r>
              <a:rPr lang="en-US" sz="1400" b="1" dirty="0" err="1">
                <a:solidFill>
                  <a:schemeClr val="tx2"/>
                </a:solidFill>
              </a:rPr>
              <a:t>fluxes.sw_net</a:t>
            </a:r>
            <a:r>
              <a:rPr lang="en-US" sz="1400" b="1" dirty="0">
                <a:solidFill>
                  <a:schemeClr val="tx2"/>
                </a:solidFill>
              </a:rPr>
              <a:t> – </a:t>
            </a:r>
            <a:r>
              <a:rPr lang="en-US" sz="1400" b="1" dirty="0" err="1">
                <a:solidFill>
                  <a:schemeClr val="tx2"/>
                </a:solidFill>
              </a:rPr>
              <a:t>shortwv</a:t>
            </a:r>
            <a:r>
              <a:rPr lang="en-US" sz="1400" b="1" dirty="0">
                <a:solidFill>
                  <a:schemeClr val="tx2"/>
                </a:solidFill>
              </a:rPr>
              <a:t> radiation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fluxes.lw_net</a:t>
            </a:r>
            <a:r>
              <a:rPr lang="en-US" sz="1400" b="1" dirty="0">
                <a:solidFill>
                  <a:schemeClr val="tx2"/>
                </a:solidFill>
              </a:rPr>
              <a:t> - </a:t>
            </a:r>
            <a:r>
              <a:rPr lang="en-US" sz="1400" b="1" dirty="0" err="1">
                <a:solidFill>
                  <a:schemeClr val="tx2"/>
                </a:solidFill>
              </a:rPr>
              <a:t>longwv</a:t>
            </a:r>
            <a:r>
              <a:rPr lang="en-US" sz="1400" b="1" dirty="0">
                <a:solidFill>
                  <a:schemeClr val="tx2"/>
                </a:solidFill>
              </a:rPr>
              <a:t> radiation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fluxes.hsb</a:t>
            </a:r>
            <a:r>
              <a:rPr lang="en-US" sz="1400" b="1" dirty="0">
                <a:solidFill>
                  <a:schemeClr val="tx2"/>
                </a:solidFill>
              </a:rPr>
              <a:t> – sensible heat flux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fluxes.hlb</a:t>
            </a:r>
            <a:r>
              <a:rPr lang="en-US" sz="1400" b="1" dirty="0">
                <a:solidFill>
                  <a:schemeClr val="tx2"/>
                </a:solidFill>
              </a:rPr>
              <a:t> – latent heat flux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fluxes.tau</a:t>
            </a:r>
            <a:r>
              <a:rPr lang="en-US" sz="1400" b="1" dirty="0">
                <a:solidFill>
                  <a:schemeClr val="tx2"/>
                </a:solidFill>
              </a:rPr>
              <a:t> – wind stress </a:t>
            </a:r>
            <a:r>
              <a:rPr lang="en-US" sz="1400" b="1">
                <a:solidFill>
                  <a:schemeClr val="tx2"/>
                </a:solidFill>
              </a:rPr>
              <a:t>(scaler)</a:t>
            </a:r>
            <a:endParaRPr lang="en-US" sz="1400" b="1" dirty="0">
              <a:solidFill>
                <a:schemeClr val="tx2"/>
              </a:solidFill>
            </a:endParaRPr>
          </a:p>
          <a:p>
            <a:r>
              <a:rPr lang="en-US" sz="1400" b="1" dirty="0">
                <a:solidFill>
                  <a:schemeClr val="tx2"/>
                </a:solidFill>
              </a:rPr>
              <a:t>SWIFT – “.</a:t>
            </a:r>
            <a:r>
              <a:rPr lang="en-US" sz="1400" b="1" dirty="0" err="1">
                <a:solidFill>
                  <a:schemeClr val="tx2"/>
                </a:solidFill>
              </a:rPr>
              <a:t>winddir</a:t>
            </a:r>
            <a:r>
              <a:rPr lang="en-US" sz="1400" b="1" dirty="0">
                <a:solidFill>
                  <a:schemeClr val="tx2"/>
                </a:solidFill>
              </a:rPr>
              <a:t>” (CCW 0 deg north) and “.time” (</a:t>
            </a:r>
            <a:r>
              <a:rPr lang="en-US" sz="1400" b="1" dirty="0" err="1">
                <a:solidFill>
                  <a:schemeClr val="tx2"/>
                </a:solidFill>
              </a:rPr>
              <a:t>datenum</a:t>
            </a:r>
            <a:r>
              <a:rPr lang="en-US" sz="1400" b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053A31-B495-46AA-77D6-CDC4DE367112}"/>
              </a:ext>
            </a:extLst>
          </p:cNvPr>
          <p:cNvSpPr txBox="1"/>
          <p:nvPr/>
        </p:nvSpPr>
        <p:spPr>
          <a:xfrm>
            <a:off x="3789352" y="792321"/>
            <a:ext cx="2839378" cy="1600438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Initial Profile Data (1X1 structure with arrays length(z) x 1)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profile.time</a:t>
            </a:r>
            <a:r>
              <a:rPr lang="en-US" sz="1400" b="1" dirty="0">
                <a:solidFill>
                  <a:schemeClr val="tx2"/>
                </a:solidFill>
              </a:rPr>
              <a:t> [</a:t>
            </a:r>
            <a:r>
              <a:rPr lang="en-US" sz="1400" b="1" dirty="0" err="1">
                <a:solidFill>
                  <a:schemeClr val="tx2"/>
                </a:solidFill>
              </a:rPr>
              <a:t>julian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datenum</a:t>
            </a:r>
            <a:r>
              <a:rPr lang="en-US" sz="1400" b="1" dirty="0">
                <a:solidFill>
                  <a:schemeClr val="tx2"/>
                </a:solidFill>
              </a:rPr>
              <a:t>]</a:t>
            </a:r>
            <a:endParaRPr lang="en-US" sz="1400" b="1" dirty="0"/>
          </a:p>
          <a:p>
            <a:r>
              <a:rPr lang="en-US" sz="1400" b="1" dirty="0" err="1">
                <a:solidFill>
                  <a:schemeClr val="tx2"/>
                </a:solidFill>
              </a:rPr>
              <a:t>profile.z</a:t>
            </a:r>
            <a:r>
              <a:rPr lang="en-US" sz="1400" b="1" dirty="0">
                <a:solidFill>
                  <a:schemeClr val="tx2"/>
                </a:solidFill>
              </a:rPr>
              <a:t> [m] – depth positive down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profile.t [deg C]  - Temperature 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profile.s</a:t>
            </a:r>
            <a:r>
              <a:rPr lang="en-US" sz="1400" b="1" dirty="0">
                <a:solidFill>
                  <a:schemeClr val="tx2"/>
                </a:solidFill>
              </a:rPr>
              <a:t> [PSU] – Salinity</a:t>
            </a:r>
          </a:p>
          <a:p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23E018-8EC9-A515-46A4-09ECDA4001B4}"/>
              </a:ext>
            </a:extLst>
          </p:cNvPr>
          <p:cNvSpPr txBox="1"/>
          <p:nvPr/>
        </p:nvSpPr>
        <p:spPr>
          <a:xfrm>
            <a:off x="1826240" y="3430378"/>
            <a:ext cx="319973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Define Setup Parameters (see page 3) and setup model grid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7C2871-1278-6739-F3E2-23B6A42EBF88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 flipH="1">
            <a:off x="3426106" y="3229337"/>
            <a:ext cx="2895" cy="201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AB04E1A-53A9-4AF1-2AD6-D29712FC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1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A3AFDC-D42E-F08B-6DE3-B130A5F46DA6}"/>
              </a:ext>
            </a:extLst>
          </p:cNvPr>
          <p:cNvSpPr txBox="1"/>
          <p:nvPr/>
        </p:nvSpPr>
        <p:spPr>
          <a:xfrm rot="16200000">
            <a:off x="-444081" y="6069043"/>
            <a:ext cx="165629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Time Stepped Loop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86DEA84-7152-241D-22BE-EFAF389EC96E}"/>
              </a:ext>
            </a:extLst>
          </p:cNvPr>
          <p:cNvCxnSpPr>
            <a:cxnSpLocks/>
            <a:stCxn id="22" idx="2"/>
            <a:endCxn id="40" idx="0"/>
          </p:cNvCxnSpPr>
          <p:nvPr/>
        </p:nvCxnSpPr>
        <p:spPr>
          <a:xfrm>
            <a:off x="3426106" y="3953598"/>
            <a:ext cx="2895" cy="243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5D4D092-B99F-D815-D31D-52480392F539}"/>
              </a:ext>
            </a:extLst>
          </p:cNvPr>
          <p:cNvSpPr txBox="1"/>
          <p:nvPr/>
        </p:nvSpPr>
        <p:spPr>
          <a:xfrm>
            <a:off x="766317" y="4345494"/>
            <a:ext cx="5858612" cy="3754874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pwpgo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(…) – applies surface fluxes to all cells starting at the top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1. t(1) = (qi*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absrb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(1) +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qo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) * dt / (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dz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* d(1) *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cpw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) – Updates top cell temp. 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where qi is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sw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rad and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qo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is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lw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-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qlat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-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qsens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. 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2. s(1) = s(1)/(1-emp*dt/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dz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) – Updates top cell freshwater flux using evap. minus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precip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. rate (emp). Evaporation calculated from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qlat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3. t(2:end) =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absrb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(…) – calculates penetrating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sw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rad. into interior cells and calculates new “t” profile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4. Recompute density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5.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remove_si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(…) – removes static instability simulating convective overturning.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6. Find a mixed layer depth (MLD) using 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drho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n-US" sz="1400" b="1" dirty="0" err="1">
                <a:solidFill>
                  <a:schemeClr val="accent3">
                    <a:lumMod val="50000"/>
                  </a:schemeClr>
                </a:solidFill>
              </a:rPr>
              <a:t>dz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 threshold. </a:t>
            </a: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	7. Apply momentum flux uniformly over MLD such that 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du = (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tx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/(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ml_depth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*d(1)))*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dt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. Use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coriolis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to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find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angle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between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tau_x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and u. 	</a:t>
            </a:r>
          </a:p>
          <a:p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	8. Apply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inertial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inertial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wave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damping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	9. Apply bulk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richardson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number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mixing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up to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rb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(page 3)</a:t>
            </a:r>
          </a:p>
          <a:p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	10. Apply gradient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richardson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number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up to </a:t>
            </a:r>
            <a:r>
              <a:rPr lang="fr-FR" sz="1400" b="1" dirty="0" err="1">
                <a:solidFill>
                  <a:schemeClr val="accent3">
                    <a:lumMod val="50000"/>
                  </a:schemeClr>
                </a:solidFill>
              </a:rPr>
              <a:t>rg</a:t>
            </a:r>
            <a:r>
              <a:rPr lang="fr-FR" sz="1400" b="1" dirty="0">
                <a:solidFill>
                  <a:schemeClr val="accent3">
                    <a:lumMod val="50000"/>
                  </a:schemeClr>
                </a:solidFill>
              </a:rPr>
              <a:t> (page 3)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C698C5C-C6D7-6086-FF7F-A6D38DA90751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3429001" y="8264324"/>
            <a:ext cx="0" cy="697643"/>
          </a:xfrm>
          <a:prstGeom prst="straightConnector1">
            <a:avLst/>
          </a:prstGeom>
          <a:ln>
            <a:prstDash val="lgDashDot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059D815-E4D9-A204-1EA4-8FBB032D92F4}"/>
              </a:ext>
            </a:extLst>
          </p:cNvPr>
          <p:cNvSpPr txBox="1"/>
          <p:nvPr/>
        </p:nvSpPr>
        <p:spPr>
          <a:xfrm>
            <a:off x="537954" y="2823646"/>
            <a:ext cx="302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**Fluxes same sign convention as COARE (</a:t>
            </a:r>
            <a:r>
              <a:rPr lang="en-US" sz="1200" dirty="0" err="1"/>
              <a:t>lw</a:t>
            </a:r>
            <a:r>
              <a:rPr lang="en-US" sz="1200" dirty="0"/>
              <a:t> and </a:t>
            </a:r>
            <a:r>
              <a:rPr lang="en-US" sz="1200" dirty="0" err="1"/>
              <a:t>sw</a:t>
            </a:r>
            <a:r>
              <a:rPr lang="en-US" sz="1200" dirty="0"/>
              <a:t> (+) heating ocean, </a:t>
            </a:r>
            <a:r>
              <a:rPr lang="en-US" sz="1200" dirty="0" err="1"/>
              <a:t>sen</a:t>
            </a:r>
            <a:r>
              <a:rPr lang="en-US" sz="1200" dirty="0"/>
              <a:t> and </a:t>
            </a:r>
            <a:r>
              <a:rPr lang="en-US" sz="1200" dirty="0" err="1"/>
              <a:t>lat</a:t>
            </a:r>
            <a:r>
              <a:rPr lang="en-US" sz="1200" dirty="0"/>
              <a:t> (-)</a:t>
            </a:r>
          </a:p>
        </p:txBody>
      </p:sp>
    </p:spTree>
    <p:extLst>
      <p:ext uri="{BB962C8B-B14F-4D97-AF65-F5344CB8AC3E}">
        <p14:creationId xmlns:p14="http://schemas.microsoft.com/office/powerpoint/2010/main" val="216822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46BF-21F5-409B-ADF8-E64748E8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41570EB-3BC3-7C0C-886E-3B5252C6C778}"/>
              </a:ext>
            </a:extLst>
          </p:cNvPr>
          <p:cNvSpPr/>
          <p:nvPr/>
        </p:nvSpPr>
        <p:spPr>
          <a:xfrm>
            <a:off x="83917" y="1542746"/>
            <a:ext cx="6690167" cy="2751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1E58C-C8FC-DC62-55CB-C3525EF6E119}"/>
              </a:ext>
            </a:extLst>
          </p:cNvPr>
          <p:cNvSpPr txBox="1"/>
          <p:nvPr/>
        </p:nvSpPr>
        <p:spPr>
          <a:xfrm>
            <a:off x="2277217" y="116701"/>
            <a:ext cx="2318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u="sng" dirty="0"/>
              <a:t>PWP data 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E41333-3122-24A3-F6EC-B06E4707C3D8}"/>
              </a:ext>
            </a:extLst>
          </p:cNvPr>
          <p:cNvSpPr txBox="1"/>
          <p:nvPr/>
        </p:nvSpPr>
        <p:spPr>
          <a:xfrm rot="16200000">
            <a:off x="-53144" y="2683566"/>
            <a:ext cx="87441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Outputs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700E1-204E-FAE6-2E7A-170B562CCF45}"/>
              </a:ext>
            </a:extLst>
          </p:cNvPr>
          <p:cNvSpPr txBox="1"/>
          <p:nvPr/>
        </p:nvSpPr>
        <p:spPr>
          <a:xfrm>
            <a:off x="766317" y="1695146"/>
            <a:ext cx="5748783" cy="2462213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Output Data (1X1 structure with arrays length(time) x 1)</a:t>
            </a:r>
            <a:endParaRPr lang="en-US" sz="1400" dirty="0"/>
          </a:p>
          <a:p>
            <a:r>
              <a:rPr lang="en-US" sz="1400" b="1" dirty="0" err="1">
                <a:solidFill>
                  <a:schemeClr val="tx2"/>
                </a:solidFill>
              </a:rPr>
              <a:t>pwp_output.time</a:t>
            </a:r>
            <a:r>
              <a:rPr lang="en-US" sz="1400" b="1" dirty="0">
                <a:solidFill>
                  <a:schemeClr val="tx2"/>
                </a:solidFill>
              </a:rPr>
              <a:t> [</a:t>
            </a:r>
            <a:r>
              <a:rPr lang="en-US" sz="1400" b="1" dirty="0" err="1">
                <a:solidFill>
                  <a:schemeClr val="tx2"/>
                </a:solidFill>
              </a:rPr>
              <a:t>julian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datenum</a:t>
            </a:r>
            <a:r>
              <a:rPr lang="en-US" sz="1400" b="1" dirty="0">
                <a:solidFill>
                  <a:schemeClr val="tx2"/>
                </a:solidFill>
              </a:rPr>
              <a:t>] – </a:t>
            </a:r>
            <a:r>
              <a:rPr lang="en-US" sz="1400" b="1" dirty="0" err="1">
                <a:solidFill>
                  <a:schemeClr val="tx2"/>
                </a:solidFill>
              </a:rPr>
              <a:t>mxn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timegrid</a:t>
            </a:r>
            <a:endParaRPr lang="en-US" sz="1400" b="1" dirty="0">
              <a:solidFill>
                <a:schemeClr val="tx2"/>
              </a:solidFill>
            </a:endParaRPr>
          </a:p>
          <a:p>
            <a:r>
              <a:rPr lang="en-US" sz="1400" b="1" dirty="0">
                <a:solidFill>
                  <a:schemeClr val="tx2"/>
                </a:solidFill>
              </a:rPr>
              <a:t>pwp_output.t [deg C] – </a:t>
            </a:r>
            <a:r>
              <a:rPr lang="en-US" sz="1400" b="1" dirty="0" err="1">
                <a:solidFill>
                  <a:schemeClr val="tx2"/>
                </a:solidFill>
              </a:rPr>
              <a:t>mxn</a:t>
            </a:r>
            <a:r>
              <a:rPr lang="en-US" sz="1400" b="1" dirty="0">
                <a:solidFill>
                  <a:schemeClr val="tx2"/>
                </a:solidFill>
              </a:rPr>
              <a:t> temperature grid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pwp_output.s</a:t>
            </a:r>
            <a:r>
              <a:rPr lang="en-US" sz="1400" b="1" dirty="0">
                <a:solidFill>
                  <a:schemeClr val="tx2"/>
                </a:solidFill>
              </a:rPr>
              <a:t> [PSU] – </a:t>
            </a:r>
            <a:r>
              <a:rPr lang="en-US" sz="1400" b="1" dirty="0" err="1">
                <a:solidFill>
                  <a:schemeClr val="tx2"/>
                </a:solidFill>
              </a:rPr>
              <a:t>mxn</a:t>
            </a:r>
            <a:r>
              <a:rPr lang="en-US" sz="1400" b="1" dirty="0">
                <a:solidFill>
                  <a:schemeClr val="tx2"/>
                </a:solidFill>
              </a:rPr>
              <a:t> salinity grid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pwp_output.d</a:t>
            </a:r>
            <a:r>
              <a:rPr lang="en-US" sz="1400" b="1" dirty="0">
                <a:solidFill>
                  <a:schemeClr val="tx2"/>
                </a:solidFill>
              </a:rPr>
              <a:t> [kg/m^3] – </a:t>
            </a:r>
            <a:r>
              <a:rPr lang="en-US" sz="1400" b="1" dirty="0" err="1">
                <a:solidFill>
                  <a:schemeClr val="tx2"/>
                </a:solidFill>
              </a:rPr>
              <a:t>mxn</a:t>
            </a:r>
            <a:r>
              <a:rPr lang="en-US" sz="1400" b="1" dirty="0">
                <a:solidFill>
                  <a:schemeClr val="tx2"/>
                </a:solidFill>
              </a:rPr>
              <a:t> density grid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pwp_output.u</a:t>
            </a:r>
            <a:r>
              <a:rPr lang="en-US" sz="1400" b="1" dirty="0">
                <a:solidFill>
                  <a:schemeClr val="tx2"/>
                </a:solidFill>
              </a:rPr>
              <a:t> [m/s] – </a:t>
            </a:r>
            <a:r>
              <a:rPr lang="en-US" sz="1400" b="1" dirty="0" err="1">
                <a:solidFill>
                  <a:schemeClr val="tx2"/>
                </a:solidFill>
              </a:rPr>
              <a:t>mxn</a:t>
            </a:r>
            <a:r>
              <a:rPr lang="en-US" sz="1400" b="1" dirty="0">
                <a:solidFill>
                  <a:schemeClr val="tx2"/>
                </a:solidFill>
              </a:rPr>
              <a:t> eastward velocity grid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pwp_output.v</a:t>
            </a:r>
            <a:r>
              <a:rPr lang="en-US" sz="1400" b="1" dirty="0">
                <a:solidFill>
                  <a:schemeClr val="tx2"/>
                </a:solidFill>
              </a:rPr>
              <a:t> [m/s] – </a:t>
            </a:r>
            <a:r>
              <a:rPr lang="en-US" sz="1400" b="1" dirty="0" err="1">
                <a:solidFill>
                  <a:schemeClr val="tx2"/>
                </a:solidFill>
              </a:rPr>
              <a:t>mxn</a:t>
            </a:r>
            <a:r>
              <a:rPr lang="en-US" sz="1400" b="1" dirty="0">
                <a:solidFill>
                  <a:schemeClr val="tx2"/>
                </a:solidFill>
              </a:rPr>
              <a:t> westward velocity grid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pwp_output.mld</a:t>
            </a:r>
            <a:r>
              <a:rPr lang="en-US" sz="1400" b="1" dirty="0">
                <a:solidFill>
                  <a:schemeClr val="tx2"/>
                </a:solidFill>
              </a:rPr>
              <a:t> [m] – 1xn mixed layer depth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pwp_output.dt</a:t>
            </a:r>
            <a:r>
              <a:rPr lang="en-US" sz="1400" b="1" dirty="0">
                <a:solidFill>
                  <a:schemeClr val="tx2"/>
                </a:solidFill>
              </a:rPr>
              <a:t> [s] – 1x1 timestep size 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pwp_output.dz[m] – 1x1 </a:t>
            </a:r>
            <a:r>
              <a:rPr lang="en-US" sz="1400" b="1" dirty="0" err="1">
                <a:solidFill>
                  <a:schemeClr val="tx2"/>
                </a:solidFill>
              </a:rPr>
              <a:t>depthstep</a:t>
            </a:r>
            <a:r>
              <a:rPr lang="en-US" sz="1400" b="1" dirty="0">
                <a:solidFill>
                  <a:schemeClr val="tx2"/>
                </a:solidFill>
              </a:rPr>
              <a:t> size</a:t>
            </a:r>
          </a:p>
          <a:p>
            <a:r>
              <a:rPr lang="en-US" sz="1400" b="1" dirty="0" err="1">
                <a:solidFill>
                  <a:schemeClr val="tx2"/>
                </a:solidFill>
              </a:rPr>
              <a:t>pwp_output.lat</a:t>
            </a:r>
            <a:r>
              <a:rPr lang="en-US" sz="1400" b="1" dirty="0">
                <a:solidFill>
                  <a:schemeClr val="tx2"/>
                </a:solidFill>
              </a:rPr>
              <a:t> [deg] – 1x1 latitude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574D5C1-A4E8-6102-3168-477E8974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2</a:t>
            </a:fld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8C3179C-770E-AA93-AD17-DEDE54F5A5EE}"/>
              </a:ext>
            </a:extLst>
          </p:cNvPr>
          <p:cNvCxnSpPr>
            <a:cxnSpLocks/>
          </p:cNvCxnSpPr>
          <p:nvPr/>
        </p:nvCxnSpPr>
        <p:spPr>
          <a:xfrm>
            <a:off x="3429001" y="833369"/>
            <a:ext cx="0" cy="697643"/>
          </a:xfrm>
          <a:prstGeom prst="straightConnector1">
            <a:avLst/>
          </a:prstGeom>
          <a:ln>
            <a:prstDash val="lgDashDot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0645" y="7182528"/>
            <a:ext cx="6431920" cy="138499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Matlab</a:t>
            </a:r>
            <a:r>
              <a:rPr lang="en-US" sz="1400" dirty="0"/>
              <a:t> functions on GitHub at</a:t>
            </a:r>
          </a:p>
          <a:p>
            <a:r>
              <a:rPr lang="en-US" sz="1400" dirty="0"/>
              <a:t>	 </a:t>
            </a:r>
            <a:r>
              <a:rPr lang="en-US" sz="1400" b="1" dirty="0">
                <a:solidFill>
                  <a:srgbClr val="0432FF"/>
                </a:solidFill>
                <a:hlinkClick r:id="rId2"/>
              </a:rPr>
              <a:t>https://github.com/SASlabgroup/SWIFT-codes/tree/a467fd08e1d11a6182c9b3a000679a8d8cba7159/GeneralTools/PWP1986</a:t>
            </a:r>
            <a:endParaRPr lang="en-US" sz="1400" b="1" dirty="0">
              <a:solidFill>
                <a:srgbClr val="0432FF"/>
              </a:solidFill>
            </a:endParaRPr>
          </a:p>
          <a:p>
            <a:r>
              <a:rPr lang="en-US" sz="1400" dirty="0"/>
              <a:t>Derived from </a:t>
            </a:r>
          </a:p>
          <a:p>
            <a:r>
              <a:rPr lang="en-US" sz="1400" dirty="0"/>
              <a:t>	</a:t>
            </a:r>
            <a:r>
              <a:rPr lang="en-US" sz="1400" b="1" dirty="0">
                <a:solidFill>
                  <a:srgbClr val="0432FF"/>
                </a:solidFill>
                <a:hlinkClick r:id="rId3"/>
              </a:rPr>
              <a:t> </a:t>
            </a:r>
            <a:r>
              <a:rPr lang="en-US" sz="1400" b="1" dirty="0" err="1">
                <a:solidFill>
                  <a:srgbClr val="0432FF"/>
                </a:solidFill>
              </a:rPr>
              <a:t>git@github.com:earlew</a:t>
            </a:r>
            <a:r>
              <a:rPr lang="en-US" sz="1400" b="1" dirty="0">
                <a:solidFill>
                  <a:srgbClr val="0432FF"/>
                </a:solidFill>
              </a:rPr>
              <a:t>/pwp_python_00.git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069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914E1-AEE0-E08A-4C4B-77BA50BA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5BC2-A15A-FD43-8F8A-37E79041258B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9E48C-6D9B-87E3-BA24-E2DA1083948D}"/>
              </a:ext>
            </a:extLst>
          </p:cNvPr>
          <p:cNvSpPr txBox="1"/>
          <p:nvPr/>
        </p:nvSpPr>
        <p:spPr>
          <a:xfrm rot="16200000">
            <a:off x="-566200" y="4418112"/>
            <a:ext cx="1536104" cy="30777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Setup Parameters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8889235-40D8-41A4-E2C8-08E452A93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193685"/>
              </p:ext>
            </p:extLst>
          </p:nvPr>
        </p:nvGraphicFramePr>
        <p:xfrm>
          <a:off x="439838" y="114245"/>
          <a:ext cx="6126480" cy="80381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5989191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10331675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78311477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87746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Variable</a:t>
                      </a:r>
                    </a:p>
                  </a:txBody>
                  <a:tcPr marL="24730" marR="24730" marT="12365" marB="123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Definition</a:t>
                      </a:r>
                    </a:p>
                  </a:txBody>
                  <a:tcPr marL="24730" marR="24730" marT="12365" marB="123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Units</a:t>
                      </a:r>
                    </a:p>
                  </a:txBody>
                  <a:tcPr marL="24730" marR="24730" marT="12365" marB="123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Role in Model</a:t>
                      </a:r>
                    </a:p>
                  </a:txBody>
                  <a:tcPr marL="24730" marR="24730" marT="12365" marB="123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275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dt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Time-step increment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s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Main timestep used in time loop (dt = 1 → </a:t>
                      </a:r>
                      <a:r>
                        <a:rPr lang="en-US" sz="1200">
                          <a:latin typeface="+mn-lt"/>
                        </a:rPr>
                        <a:t>1 day). </a:t>
                      </a:r>
                      <a:r>
                        <a:rPr lang="en-US" sz="1200" dirty="0">
                          <a:latin typeface="+mn-lt"/>
                        </a:rPr>
                        <a:t>Used for all flux integrations.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342912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dz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Depth increment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Vertical grid spacing for z = 0:dz:depth. Controls model resolution.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1311415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depth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Maximum model depth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m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Total depth of the model domain. Truncated to match profile if shallower.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4099792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dt_save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Save interval multiplier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—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Number of timesteps per save output (e.g. 1 → save every step).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116726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lat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Latitude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°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Used to compute Coriolis parameter f = </a:t>
                      </a:r>
                      <a:r>
                        <a:rPr lang="en-US" sz="1200" dirty="0" err="1">
                          <a:latin typeface="+mn-lt"/>
                        </a:rPr>
                        <a:t>gsw_f</a:t>
                      </a:r>
                      <a:r>
                        <a:rPr lang="en-US" sz="1200" dirty="0">
                          <a:latin typeface="+mn-lt"/>
                        </a:rPr>
                        <a:t>(</a:t>
                      </a:r>
                      <a:r>
                        <a:rPr lang="en-US" sz="1200" dirty="0" err="1">
                          <a:latin typeface="+mn-lt"/>
                        </a:rPr>
                        <a:t>lat</a:t>
                      </a:r>
                      <a:r>
                        <a:rPr lang="en-US" sz="1200" dirty="0">
                          <a:latin typeface="+mn-lt"/>
                        </a:rPr>
                        <a:t>).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61766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g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Gravitational acceleration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m s⁻²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Used in Richardson number and buoyancy calculations (9.81).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378068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cpw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Specific heat capacity of seawater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J kg⁻¹ °C⁻¹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+mn-lt"/>
                        </a:rPr>
                        <a:t>Converts surface heat flux (W m⁻²) into temperature tendency: </a:t>
                      </a:r>
                      <a:r>
                        <a:rPr lang="el-GR" sz="1200">
                          <a:latin typeface="+mn-lt"/>
                        </a:rPr>
                        <a:t>Δ</a:t>
                      </a:r>
                      <a:r>
                        <a:rPr lang="en-US" sz="1200">
                          <a:latin typeface="+mn-lt"/>
                        </a:rPr>
                        <a:t>T = Q dt / (</a:t>
                      </a:r>
                      <a:r>
                        <a:rPr lang="el-GR" sz="1200">
                          <a:latin typeface="+mn-lt"/>
                        </a:rPr>
                        <a:t>ρ </a:t>
                      </a:r>
                      <a:r>
                        <a:rPr lang="en-US" sz="1200">
                          <a:latin typeface="+mn-lt"/>
                        </a:rPr>
                        <a:t>cp </a:t>
                      </a:r>
                      <a:r>
                        <a:rPr lang="el-GR" sz="1200">
                          <a:latin typeface="+mn-lt"/>
                        </a:rPr>
                        <a:t>Δ</a:t>
                      </a:r>
                      <a:r>
                        <a:rPr lang="en-US" sz="1200">
                          <a:latin typeface="+mn-lt"/>
                        </a:rPr>
                        <a:t>z).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1483077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f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Coriolis frequency (from latitude)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s⁻¹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Determines inertial oscillations and rotation of velocity vectors.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2758276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ucon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Inertial/internal wave damping coefficient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s⁻¹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Small parameter (~0.1 ×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1471385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>
                          <a:latin typeface="+mn-lt"/>
                        </a:rPr>
                        <a:t>rkz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Background vertical diffusivity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m² s⁻¹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Optional constant vertical diffusion coefficient for scalar fields. If 0 → disabled.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352210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>
                          <a:latin typeface="+mn-lt"/>
                        </a:rPr>
                        <a:t>dstab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Diffusive CFL number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—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</a:rPr>
                        <a:t>dstab</a:t>
                      </a:r>
                      <a:r>
                        <a:rPr lang="en-US" sz="1200" dirty="0">
                          <a:latin typeface="+mn-lt"/>
                        </a:rPr>
                        <a:t> = dt * </a:t>
                      </a:r>
                      <a:r>
                        <a:rPr lang="en-US" sz="1200" dirty="0" err="1">
                          <a:latin typeface="+mn-lt"/>
                        </a:rPr>
                        <a:t>rkz</a:t>
                      </a:r>
                      <a:r>
                        <a:rPr lang="en-US" sz="1200" dirty="0">
                          <a:latin typeface="+mn-lt"/>
                        </a:rPr>
                        <a:t> / dz²; must be ≤ 0.5 for stability.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2705873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diagnostics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Diagnostic flag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(0–3)</a:t>
                      </a:r>
                    </a:p>
                  </a:txBody>
                  <a:tcPr marL="24730" marR="24730" marT="12365" marB="123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+mn-lt"/>
                        </a:rPr>
                        <a:t>Controls plotting mode during run (0 = none, 1 = profiles &amp; KE, 2 = momentum, 3 = MLD).</a:t>
                      </a:r>
                    </a:p>
                  </a:txBody>
                  <a:tcPr marL="24730" marR="24730" marT="12365" marB="12365" anchor="ctr"/>
                </a:tc>
                <a:extLst>
                  <a:ext uri="{0D108BD9-81ED-4DB2-BD59-A6C34878D82A}">
                    <a16:rowId xmlns:a16="http://schemas.microsoft.com/office/drawing/2014/main" val="3430891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>
                          <a:latin typeface="+mn-lt"/>
                        </a:rPr>
                        <a:t>rb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0.65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dimensionless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Critical </a:t>
                      </a:r>
                      <a:r>
                        <a:rPr lang="en-US" sz="1200" b="1">
                          <a:latin typeface="+mn-lt"/>
                        </a:rPr>
                        <a:t>bulk</a:t>
                      </a:r>
                      <a:r>
                        <a:rPr lang="en-US" sz="1200">
                          <a:latin typeface="+mn-lt"/>
                        </a:rPr>
                        <a:t> Richardson number for entrainment (bulk Ri threshold).</a:t>
                      </a:r>
                    </a:p>
                  </a:txBody>
                  <a:tcPr marL="7141" marR="7141" marT="3570" marB="3570" anchor="ctr"/>
                </a:tc>
                <a:extLst>
                  <a:ext uri="{0D108BD9-81ED-4DB2-BD59-A6C34878D82A}">
                    <a16:rowId xmlns:a16="http://schemas.microsoft.com/office/drawing/2014/main" val="358351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>
                          <a:latin typeface="+mn-lt"/>
                        </a:rPr>
                        <a:t>rg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0.25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dimensionless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Critical </a:t>
                      </a:r>
                      <a:r>
                        <a:rPr lang="en-US" sz="1200" b="1" dirty="0">
                          <a:latin typeface="+mn-lt"/>
                        </a:rPr>
                        <a:t>gradient</a:t>
                      </a:r>
                      <a:r>
                        <a:rPr lang="en-US" sz="1200" dirty="0">
                          <a:latin typeface="+mn-lt"/>
                        </a:rPr>
                        <a:t> Richardson number for shear (local) mixing.</a:t>
                      </a:r>
                    </a:p>
                  </a:txBody>
                  <a:tcPr marL="7141" marR="7141" marT="3570" marB="3570" anchor="ctr"/>
                </a:tc>
                <a:extLst>
                  <a:ext uri="{0D108BD9-81ED-4DB2-BD59-A6C34878D82A}">
                    <a16:rowId xmlns:a16="http://schemas.microsoft.com/office/drawing/2014/main" val="3036740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rkz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0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m² s⁻¹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Background vertical diffusivity (if &gt;0, </a:t>
                      </a:r>
                      <a:r>
                        <a:rPr lang="en-US" sz="1200" dirty="0" err="1">
                          <a:latin typeface="+mn-lt"/>
                        </a:rPr>
                        <a:t>diffus</a:t>
                      </a:r>
                      <a:r>
                        <a:rPr lang="en-US" sz="1200" dirty="0">
                          <a:latin typeface="+mn-lt"/>
                        </a:rPr>
                        <a:t> operator is called).</a:t>
                      </a:r>
                    </a:p>
                  </a:txBody>
                  <a:tcPr marL="7141" marR="7141" marT="3570" marB="3570" anchor="ctr"/>
                </a:tc>
                <a:extLst>
                  <a:ext uri="{0D108BD9-81ED-4DB2-BD59-A6C34878D82A}">
                    <a16:rowId xmlns:a16="http://schemas.microsoft.com/office/drawing/2014/main" val="26894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beta1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0.6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Short (red) extinction scale for solar absorption (shallow/strong absorption).</a:t>
                      </a:r>
                    </a:p>
                  </a:txBody>
                  <a:tcPr marL="7141" marR="7141" marT="3570" marB="3570" anchor="ctr"/>
                </a:tc>
                <a:extLst>
                  <a:ext uri="{0D108BD9-81ED-4DB2-BD59-A6C34878D82A}">
                    <a16:rowId xmlns:a16="http://schemas.microsoft.com/office/drawing/2014/main" val="314323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beta2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+mn-lt"/>
                        </a:rPr>
                        <a:t>20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</a:t>
                      </a:r>
                    </a:p>
                  </a:txBody>
                  <a:tcPr marL="7141" marR="7141" marT="3570" marB="357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Long (blue) extinction scale for solar absorption (deeper penetration).</a:t>
                      </a:r>
                    </a:p>
                  </a:txBody>
                  <a:tcPr marL="7141" marR="7141" marT="3570" marB="3570" anchor="ctr"/>
                </a:tc>
                <a:extLst>
                  <a:ext uri="{0D108BD9-81ED-4DB2-BD59-A6C34878D82A}">
                    <a16:rowId xmlns:a16="http://schemas.microsoft.com/office/drawing/2014/main" val="270053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954</Words>
  <Application>Microsoft Office PowerPoint</Application>
  <PresentationFormat>Letter Paper (8.5x11 in)</PresentationFormat>
  <Paragraphs>122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Thomson</dc:creator>
  <cp:lastModifiedBy>Michael James</cp:lastModifiedBy>
  <cp:revision>107</cp:revision>
  <dcterms:created xsi:type="dcterms:W3CDTF">2016-05-27T12:00:42Z</dcterms:created>
  <dcterms:modified xsi:type="dcterms:W3CDTF">2026-06-23T20:18:58Z</dcterms:modified>
</cp:coreProperties>
</file>